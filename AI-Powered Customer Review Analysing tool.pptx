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8C41A5-CFD4-4110-A8F2-3E1A6633E51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13D64EE2-BDFF-4FE5-851B-FE9448FE546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reduces manual feedback review time.</a:t>
          </a:r>
        </a:p>
      </dgm:t>
    </dgm:pt>
    <dgm:pt modelId="{45B43699-0338-4012-8C9C-DF332FC69490}" type="parTrans" cxnId="{B0718480-3159-4E6C-992F-151A214072D2}">
      <dgm:prSet/>
      <dgm:spPr/>
      <dgm:t>
        <a:bodyPr/>
        <a:lstStyle/>
        <a:p>
          <a:endParaRPr lang="en-US"/>
        </a:p>
      </dgm:t>
    </dgm:pt>
    <dgm:pt modelId="{05C82663-8384-49B1-A80D-E49DC49508AC}" type="sibTrans" cxnId="{B0718480-3159-4E6C-992F-151A214072D2}">
      <dgm:prSet/>
      <dgm:spPr/>
      <dgm:t>
        <a:bodyPr/>
        <a:lstStyle/>
        <a:p>
          <a:endParaRPr lang="en-US"/>
        </a:p>
      </dgm:t>
    </dgm:pt>
    <dgm:pt modelId="{D460ACFF-21C2-4E1C-9600-258624FCA91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Automated analysis and responses support more personalized customer touchpoints, which can boost retention and satisfaction over time</a:t>
          </a:r>
        </a:p>
      </dgm:t>
    </dgm:pt>
    <dgm:pt modelId="{74C57F7C-5024-4718-932B-B5BD68E710B9}" type="parTrans" cxnId="{36DFC7B7-36E6-4629-BF78-2AAF002C46BD}">
      <dgm:prSet/>
      <dgm:spPr/>
      <dgm:t>
        <a:bodyPr/>
        <a:lstStyle/>
        <a:p>
          <a:endParaRPr lang="en-US"/>
        </a:p>
      </dgm:t>
    </dgm:pt>
    <dgm:pt modelId="{5EBB4910-6556-4D5B-9D2F-E52DB1ECA69F}" type="sibTrans" cxnId="{36DFC7B7-36E6-4629-BF78-2AAF002C46BD}">
      <dgm:prSet/>
      <dgm:spPr/>
      <dgm:t>
        <a:bodyPr/>
        <a:lstStyle/>
        <a:p>
          <a:endParaRPr lang="en-US"/>
        </a:p>
      </dgm:t>
    </dgm:pt>
    <dgm:pt modelId="{7135A7F4-3099-48A3-AF4C-61EE17D2764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Proactive reputation management</a:t>
          </a:r>
        </a:p>
      </dgm:t>
    </dgm:pt>
    <dgm:pt modelId="{630BD7A2-E852-48EC-B03C-8F070FFCA689}" type="parTrans" cxnId="{AA255F0C-1259-4B72-8F99-526573E1CC05}">
      <dgm:prSet/>
      <dgm:spPr/>
      <dgm:t>
        <a:bodyPr/>
        <a:lstStyle/>
        <a:p>
          <a:endParaRPr lang="en-US"/>
        </a:p>
      </dgm:t>
    </dgm:pt>
    <dgm:pt modelId="{959A0CFD-C35A-433B-A8CA-51F87A7D5058}" type="sibTrans" cxnId="{AA255F0C-1259-4B72-8F99-526573E1CC05}">
      <dgm:prSet/>
      <dgm:spPr/>
      <dgm:t>
        <a:bodyPr/>
        <a:lstStyle/>
        <a:p>
          <a:endParaRPr lang="en-US"/>
        </a:p>
      </dgm:t>
    </dgm:pt>
    <dgm:pt modelId="{CD09A8CF-A061-417C-85C4-E007D576794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Summaries that link key phrases to themes and actionable suggestions give leadership clear direction for product improvement and prioritization</a:t>
          </a:r>
        </a:p>
      </dgm:t>
    </dgm:pt>
    <dgm:pt modelId="{62C43761-BF6A-49CA-BCA6-2183EFDB3702}" type="parTrans" cxnId="{3CE861F9-B553-44C5-8117-4FCC2BC225DD}">
      <dgm:prSet/>
      <dgm:spPr/>
      <dgm:t>
        <a:bodyPr/>
        <a:lstStyle/>
        <a:p>
          <a:endParaRPr lang="en-US"/>
        </a:p>
      </dgm:t>
    </dgm:pt>
    <dgm:pt modelId="{1E41ED3F-6BC4-494D-9046-3B943795C134}" type="sibTrans" cxnId="{3CE861F9-B553-44C5-8117-4FCC2BC225DD}">
      <dgm:prSet/>
      <dgm:spPr/>
      <dgm:t>
        <a:bodyPr/>
        <a:lstStyle/>
        <a:p>
          <a:endParaRPr lang="en-US"/>
        </a:p>
      </dgm:t>
    </dgm:pt>
    <dgm:pt modelId="{9D222ED4-552C-4304-81B1-20097DC64D3E}" type="pres">
      <dgm:prSet presAssocID="{228C41A5-CFD4-4110-A8F2-3E1A6633E513}" presName="root" presStyleCnt="0">
        <dgm:presLayoutVars>
          <dgm:dir/>
          <dgm:resizeHandles val="exact"/>
        </dgm:presLayoutVars>
      </dgm:prSet>
      <dgm:spPr/>
    </dgm:pt>
    <dgm:pt modelId="{8847741D-393B-4CE0-8866-B456C3949050}" type="pres">
      <dgm:prSet presAssocID="{13D64EE2-BDFF-4FE5-851B-FE9448FE5461}" presName="compNode" presStyleCnt="0"/>
      <dgm:spPr/>
    </dgm:pt>
    <dgm:pt modelId="{16F41DFD-41DD-4362-A745-270EE07A1F86}" type="pres">
      <dgm:prSet presAssocID="{13D64EE2-BDFF-4FE5-851B-FE9448FE546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415BD8A-FD59-4664-8172-FB317AF80073}" type="pres">
      <dgm:prSet presAssocID="{13D64EE2-BDFF-4FE5-851B-FE9448FE546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3E13AE7-F213-4E77-9147-C2FB5AEBDB20}" type="pres">
      <dgm:prSet presAssocID="{13D64EE2-BDFF-4FE5-851B-FE9448FE5461}" presName="spaceRect" presStyleCnt="0"/>
      <dgm:spPr/>
    </dgm:pt>
    <dgm:pt modelId="{41E914B4-50D0-446C-B6BD-A13C22D0057C}" type="pres">
      <dgm:prSet presAssocID="{13D64EE2-BDFF-4FE5-851B-FE9448FE5461}" presName="textRect" presStyleLbl="revTx" presStyleIdx="0" presStyleCnt="4">
        <dgm:presLayoutVars>
          <dgm:chMax val="1"/>
          <dgm:chPref val="1"/>
        </dgm:presLayoutVars>
      </dgm:prSet>
      <dgm:spPr/>
    </dgm:pt>
    <dgm:pt modelId="{B65C3CE5-061F-4A38-8131-8C46EF0F60A1}" type="pres">
      <dgm:prSet presAssocID="{05C82663-8384-49B1-A80D-E49DC49508AC}" presName="sibTrans" presStyleCnt="0"/>
      <dgm:spPr/>
    </dgm:pt>
    <dgm:pt modelId="{A240DD9F-1B63-47BE-8647-E0DF79D2B9E7}" type="pres">
      <dgm:prSet presAssocID="{D460ACFF-21C2-4E1C-9600-258624FCA91F}" presName="compNode" presStyleCnt="0"/>
      <dgm:spPr/>
    </dgm:pt>
    <dgm:pt modelId="{4BC229E0-0446-4C62-98F3-DE24CDDB153E}" type="pres">
      <dgm:prSet presAssocID="{D460ACFF-21C2-4E1C-9600-258624FCA91F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C82F684-9433-42BA-BE6C-855D581BB4C8}" type="pres">
      <dgm:prSet presAssocID="{D460ACFF-21C2-4E1C-9600-258624FCA9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AE4C4C89-BDB2-4B02-BAB9-1298B2CCB983}" type="pres">
      <dgm:prSet presAssocID="{D460ACFF-21C2-4E1C-9600-258624FCA91F}" presName="spaceRect" presStyleCnt="0"/>
      <dgm:spPr/>
    </dgm:pt>
    <dgm:pt modelId="{915C0E48-8D45-47EF-BFAD-449C3540EC87}" type="pres">
      <dgm:prSet presAssocID="{D460ACFF-21C2-4E1C-9600-258624FCA91F}" presName="textRect" presStyleLbl="revTx" presStyleIdx="1" presStyleCnt="4">
        <dgm:presLayoutVars>
          <dgm:chMax val="1"/>
          <dgm:chPref val="1"/>
        </dgm:presLayoutVars>
      </dgm:prSet>
      <dgm:spPr/>
    </dgm:pt>
    <dgm:pt modelId="{1A95EE5E-CCD4-4D4E-8882-84F592CCE931}" type="pres">
      <dgm:prSet presAssocID="{5EBB4910-6556-4D5B-9D2F-E52DB1ECA69F}" presName="sibTrans" presStyleCnt="0"/>
      <dgm:spPr/>
    </dgm:pt>
    <dgm:pt modelId="{85E561C7-8274-48FA-A0D9-A25801AABAB1}" type="pres">
      <dgm:prSet presAssocID="{7135A7F4-3099-48A3-AF4C-61EE17D27649}" presName="compNode" presStyleCnt="0"/>
      <dgm:spPr/>
    </dgm:pt>
    <dgm:pt modelId="{2FD73453-ABBB-4358-9C2F-9516C1EE3302}" type="pres">
      <dgm:prSet presAssocID="{7135A7F4-3099-48A3-AF4C-61EE17D2764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30D0CBC-8937-4654-A514-870B1682B5B9}" type="pres">
      <dgm:prSet presAssocID="{7135A7F4-3099-48A3-AF4C-61EE17D276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9964DD0-4979-4076-BEC7-FBCF6B34AD48}" type="pres">
      <dgm:prSet presAssocID="{7135A7F4-3099-48A3-AF4C-61EE17D27649}" presName="spaceRect" presStyleCnt="0"/>
      <dgm:spPr/>
    </dgm:pt>
    <dgm:pt modelId="{8571A3AA-4A7C-4403-8415-5A81CA47CD69}" type="pres">
      <dgm:prSet presAssocID="{7135A7F4-3099-48A3-AF4C-61EE17D27649}" presName="textRect" presStyleLbl="revTx" presStyleIdx="2" presStyleCnt="4">
        <dgm:presLayoutVars>
          <dgm:chMax val="1"/>
          <dgm:chPref val="1"/>
        </dgm:presLayoutVars>
      </dgm:prSet>
      <dgm:spPr/>
    </dgm:pt>
    <dgm:pt modelId="{8E146C3B-B675-4145-A204-238DE9262842}" type="pres">
      <dgm:prSet presAssocID="{959A0CFD-C35A-433B-A8CA-51F87A7D5058}" presName="sibTrans" presStyleCnt="0"/>
      <dgm:spPr/>
    </dgm:pt>
    <dgm:pt modelId="{98E72A76-DD19-4429-A7D3-76FC22C8B104}" type="pres">
      <dgm:prSet presAssocID="{CD09A8CF-A061-417C-85C4-E007D576794D}" presName="compNode" presStyleCnt="0"/>
      <dgm:spPr/>
    </dgm:pt>
    <dgm:pt modelId="{94C82364-EAAB-46F7-AABE-02F48C6AF8EC}" type="pres">
      <dgm:prSet presAssocID="{CD09A8CF-A061-417C-85C4-E007D576794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2E559DF-6D63-47F9-9553-85126E1CEB16}" type="pres">
      <dgm:prSet presAssocID="{CD09A8CF-A061-417C-85C4-E007D576794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67A745B-85E2-40A5-B537-E727CF8692D8}" type="pres">
      <dgm:prSet presAssocID="{CD09A8CF-A061-417C-85C4-E007D576794D}" presName="spaceRect" presStyleCnt="0"/>
      <dgm:spPr/>
    </dgm:pt>
    <dgm:pt modelId="{F797AFC2-D52E-4F69-B871-05A1DA646BB7}" type="pres">
      <dgm:prSet presAssocID="{CD09A8CF-A061-417C-85C4-E007D576794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A255F0C-1259-4B72-8F99-526573E1CC05}" srcId="{228C41A5-CFD4-4110-A8F2-3E1A6633E513}" destId="{7135A7F4-3099-48A3-AF4C-61EE17D27649}" srcOrd="2" destOrd="0" parTransId="{630BD7A2-E852-48EC-B03C-8F070FFCA689}" sibTransId="{959A0CFD-C35A-433B-A8CA-51F87A7D5058}"/>
    <dgm:cxn modelId="{B0718480-3159-4E6C-992F-151A214072D2}" srcId="{228C41A5-CFD4-4110-A8F2-3E1A6633E513}" destId="{13D64EE2-BDFF-4FE5-851B-FE9448FE5461}" srcOrd="0" destOrd="0" parTransId="{45B43699-0338-4012-8C9C-DF332FC69490}" sibTransId="{05C82663-8384-49B1-A80D-E49DC49508AC}"/>
    <dgm:cxn modelId="{5D7265AD-5879-4965-8354-D8C47AE6032F}" type="presOf" srcId="{7135A7F4-3099-48A3-AF4C-61EE17D27649}" destId="{8571A3AA-4A7C-4403-8415-5A81CA47CD69}" srcOrd="0" destOrd="0" presId="urn:microsoft.com/office/officeart/2018/5/layout/IconLeafLabelList"/>
    <dgm:cxn modelId="{36DFC7B7-36E6-4629-BF78-2AAF002C46BD}" srcId="{228C41A5-CFD4-4110-A8F2-3E1A6633E513}" destId="{D460ACFF-21C2-4E1C-9600-258624FCA91F}" srcOrd="1" destOrd="0" parTransId="{74C57F7C-5024-4718-932B-B5BD68E710B9}" sibTransId="{5EBB4910-6556-4D5B-9D2F-E52DB1ECA69F}"/>
    <dgm:cxn modelId="{5D822CBF-CF31-40C9-A488-3B12086A8724}" type="presOf" srcId="{13D64EE2-BDFF-4FE5-851B-FE9448FE5461}" destId="{41E914B4-50D0-446C-B6BD-A13C22D0057C}" srcOrd="0" destOrd="0" presId="urn:microsoft.com/office/officeart/2018/5/layout/IconLeafLabelList"/>
    <dgm:cxn modelId="{107F48CB-08EE-4AC4-BBFE-B69885FCA0B5}" type="presOf" srcId="{CD09A8CF-A061-417C-85C4-E007D576794D}" destId="{F797AFC2-D52E-4F69-B871-05A1DA646BB7}" srcOrd="0" destOrd="0" presId="urn:microsoft.com/office/officeart/2018/5/layout/IconLeafLabelList"/>
    <dgm:cxn modelId="{D3534AEB-6B62-4CB2-986F-7E5A8DEF91EE}" type="presOf" srcId="{228C41A5-CFD4-4110-A8F2-3E1A6633E513}" destId="{9D222ED4-552C-4304-81B1-20097DC64D3E}" srcOrd="0" destOrd="0" presId="urn:microsoft.com/office/officeart/2018/5/layout/IconLeafLabelList"/>
    <dgm:cxn modelId="{867DB5F4-4419-4664-959A-41CE1D48BBCE}" type="presOf" srcId="{D460ACFF-21C2-4E1C-9600-258624FCA91F}" destId="{915C0E48-8D45-47EF-BFAD-449C3540EC87}" srcOrd="0" destOrd="0" presId="urn:microsoft.com/office/officeart/2018/5/layout/IconLeafLabelList"/>
    <dgm:cxn modelId="{3CE861F9-B553-44C5-8117-4FCC2BC225DD}" srcId="{228C41A5-CFD4-4110-A8F2-3E1A6633E513}" destId="{CD09A8CF-A061-417C-85C4-E007D576794D}" srcOrd="3" destOrd="0" parTransId="{62C43761-BF6A-49CA-BCA6-2183EFDB3702}" sibTransId="{1E41ED3F-6BC4-494D-9046-3B943795C134}"/>
    <dgm:cxn modelId="{1834C2D8-FBFB-4EDF-823B-31A9D98CEA9B}" type="presParOf" srcId="{9D222ED4-552C-4304-81B1-20097DC64D3E}" destId="{8847741D-393B-4CE0-8866-B456C3949050}" srcOrd="0" destOrd="0" presId="urn:microsoft.com/office/officeart/2018/5/layout/IconLeafLabelList"/>
    <dgm:cxn modelId="{90AAC8FA-8171-4BCF-B278-C9F8243E2B3C}" type="presParOf" srcId="{8847741D-393B-4CE0-8866-B456C3949050}" destId="{16F41DFD-41DD-4362-A745-270EE07A1F86}" srcOrd="0" destOrd="0" presId="urn:microsoft.com/office/officeart/2018/5/layout/IconLeafLabelList"/>
    <dgm:cxn modelId="{35542C94-32CF-4463-8055-11CC96C706D2}" type="presParOf" srcId="{8847741D-393B-4CE0-8866-B456C3949050}" destId="{E415BD8A-FD59-4664-8172-FB317AF80073}" srcOrd="1" destOrd="0" presId="urn:microsoft.com/office/officeart/2018/5/layout/IconLeafLabelList"/>
    <dgm:cxn modelId="{53401B58-4006-43F5-ACBF-A0B5BF8BB4E3}" type="presParOf" srcId="{8847741D-393B-4CE0-8866-B456C3949050}" destId="{63E13AE7-F213-4E77-9147-C2FB5AEBDB20}" srcOrd="2" destOrd="0" presId="urn:microsoft.com/office/officeart/2018/5/layout/IconLeafLabelList"/>
    <dgm:cxn modelId="{452E2DB3-4E74-4FE6-835C-9DD6F7A74BF1}" type="presParOf" srcId="{8847741D-393B-4CE0-8866-B456C3949050}" destId="{41E914B4-50D0-446C-B6BD-A13C22D0057C}" srcOrd="3" destOrd="0" presId="urn:microsoft.com/office/officeart/2018/5/layout/IconLeafLabelList"/>
    <dgm:cxn modelId="{28472DBC-A66D-4055-9079-F8455EF8E954}" type="presParOf" srcId="{9D222ED4-552C-4304-81B1-20097DC64D3E}" destId="{B65C3CE5-061F-4A38-8131-8C46EF0F60A1}" srcOrd="1" destOrd="0" presId="urn:microsoft.com/office/officeart/2018/5/layout/IconLeafLabelList"/>
    <dgm:cxn modelId="{BE387593-A831-417E-9CED-BB43E05F2E89}" type="presParOf" srcId="{9D222ED4-552C-4304-81B1-20097DC64D3E}" destId="{A240DD9F-1B63-47BE-8647-E0DF79D2B9E7}" srcOrd="2" destOrd="0" presId="urn:microsoft.com/office/officeart/2018/5/layout/IconLeafLabelList"/>
    <dgm:cxn modelId="{70F05FC2-E559-4392-8FC4-6DF25E07FC2A}" type="presParOf" srcId="{A240DD9F-1B63-47BE-8647-E0DF79D2B9E7}" destId="{4BC229E0-0446-4C62-98F3-DE24CDDB153E}" srcOrd="0" destOrd="0" presId="urn:microsoft.com/office/officeart/2018/5/layout/IconLeafLabelList"/>
    <dgm:cxn modelId="{49D66AE5-8784-4165-9AF5-7BE75595896E}" type="presParOf" srcId="{A240DD9F-1B63-47BE-8647-E0DF79D2B9E7}" destId="{0C82F684-9433-42BA-BE6C-855D581BB4C8}" srcOrd="1" destOrd="0" presId="urn:microsoft.com/office/officeart/2018/5/layout/IconLeafLabelList"/>
    <dgm:cxn modelId="{972DE936-7FCA-4720-8E43-183AE7C2996B}" type="presParOf" srcId="{A240DD9F-1B63-47BE-8647-E0DF79D2B9E7}" destId="{AE4C4C89-BDB2-4B02-BAB9-1298B2CCB983}" srcOrd="2" destOrd="0" presId="urn:microsoft.com/office/officeart/2018/5/layout/IconLeafLabelList"/>
    <dgm:cxn modelId="{DFC1BFB3-3557-46C5-8EF1-5D6EE8E19833}" type="presParOf" srcId="{A240DD9F-1B63-47BE-8647-E0DF79D2B9E7}" destId="{915C0E48-8D45-47EF-BFAD-449C3540EC87}" srcOrd="3" destOrd="0" presId="urn:microsoft.com/office/officeart/2018/5/layout/IconLeafLabelList"/>
    <dgm:cxn modelId="{3BBD85F7-8709-4C47-8F58-6C47216F8EFE}" type="presParOf" srcId="{9D222ED4-552C-4304-81B1-20097DC64D3E}" destId="{1A95EE5E-CCD4-4D4E-8882-84F592CCE931}" srcOrd="3" destOrd="0" presId="urn:microsoft.com/office/officeart/2018/5/layout/IconLeafLabelList"/>
    <dgm:cxn modelId="{CD212E08-6F67-4ABB-8AC5-D4D5ABA84A7E}" type="presParOf" srcId="{9D222ED4-552C-4304-81B1-20097DC64D3E}" destId="{85E561C7-8274-48FA-A0D9-A25801AABAB1}" srcOrd="4" destOrd="0" presId="urn:microsoft.com/office/officeart/2018/5/layout/IconLeafLabelList"/>
    <dgm:cxn modelId="{B2445FB5-746D-4675-8043-6DC73A748E9C}" type="presParOf" srcId="{85E561C7-8274-48FA-A0D9-A25801AABAB1}" destId="{2FD73453-ABBB-4358-9C2F-9516C1EE3302}" srcOrd="0" destOrd="0" presId="urn:microsoft.com/office/officeart/2018/5/layout/IconLeafLabelList"/>
    <dgm:cxn modelId="{6E91E822-0CA2-4431-A127-7FF47BEC1738}" type="presParOf" srcId="{85E561C7-8274-48FA-A0D9-A25801AABAB1}" destId="{F30D0CBC-8937-4654-A514-870B1682B5B9}" srcOrd="1" destOrd="0" presId="urn:microsoft.com/office/officeart/2018/5/layout/IconLeafLabelList"/>
    <dgm:cxn modelId="{819FDAC8-728F-457B-A0D5-875FC466D5F2}" type="presParOf" srcId="{85E561C7-8274-48FA-A0D9-A25801AABAB1}" destId="{49964DD0-4979-4076-BEC7-FBCF6B34AD48}" srcOrd="2" destOrd="0" presId="urn:microsoft.com/office/officeart/2018/5/layout/IconLeafLabelList"/>
    <dgm:cxn modelId="{0987D059-13D3-44F2-90A1-8C4E4810C033}" type="presParOf" srcId="{85E561C7-8274-48FA-A0D9-A25801AABAB1}" destId="{8571A3AA-4A7C-4403-8415-5A81CA47CD69}" srcOrd="3" destOrd="0" presId="urn:microsoft.com/office/officeart/2018/5/layout/IconLeafLabelList"/>
    <dgm:cxn modelId="{2FF4D300-7595-4EB7-B03E-2DC50D877D5F}" type="presParOf" srcId="{9D222ED4-552C-4304-81B1-20097DC64D3E}" destId="{8E146C3B-B675-4145-A204-238DE9262842}" srcOrd="5" destOrd="0" presId="urn:microsoft.com/office/officeart/2018/5/layout/IconLeafLabelList"/>
    <dgm:cxn modelId="{D1C36232-5CC9-4100-A6EB-A269C3C1CE08}" type="presParOf" srcId="{9D222ED4-552C-4304-81B1-20097DC64D3E}" destId="{98E72A76-DD19-4429-A7D3-76FC22C8B104}" srcOrd="6" destOrd="0" presId="urn:microsoft.com/office/officeart/2018/5/layout/IconLeafLabelList"/>
    <dgm:cxn modelId="{A7543891-7A71-4BC5-A450-10F9F62250C2}" type="presParOf" srcId="{98E72A76-DD19-4429-A7D3-76FC22C8B104}" destId="{94C82364-EAAB-46F7-AABE-02F48C6AF8EC}" srcOrd="0" destOrd="0" presId="urn:microsoft.com/office/officeart/2018/5/layout/IconLeafLabelList"/>
    <dgm:cxn modelId="{17F342AA-00FD-4CA6-81D5-983EF91515B6}" type="presParOf" srcId="{98E72A76-DD19-4429-A7D3-76FC22C8B104}" destId="{C2E559DF-6D63-47F9-9553-85126E1CEB16}" srcOrd="1" destOrd="0" presId="urn:microsoft.com/office/officeart/2018/5/layout/IconLeafLabelList"/>
    <dgm:cxn modelId="{18EEE6ED-D19E-446A-A488-C17B61F8159A}" type="presParOf" srcId="{98E72A76-DD19-4429-A7D3-76FC22C8B104}" destId="{267A745B-85E2-40A5-B537-E727CF8692D8}" srcOrd="2" destOrd="0" presId="urn:microsoft.com/office/officeart/2018/5/layout/IconLeafLabelList"/>
    <dgm:cxn modelId="{F367A608-9E58-4E43-AA8E-55658EAC3FC8}" type="presParOf" srcId="{98E72A76-DD19-4429-A7D3-76FC22C8B104}" destId="{F797AFC2-D52E-4F69-B871-05A1DA646BB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41DFD-41DD-4362-A745-270EE07A1F86}">
      <dsp:nvSpPr>
        <dsp:cNvPr id="0" name=""/>
        <dsp:cNvSpPr/>
      </dsp:nvSpPr>
      <dsp:spPr>
        <a:xfrm>
          <a:off x="973190" y="829826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5BD8A-FD59-4664-8172-FB317AF80073}">
      <dsp:nvSpPr>
        <dsp:cNvPr id="0" name=""/>
        <dsp:cNvSpPr/>
      </dsp:nvSpPr>
      <dsp:spPr>
        <a:xfrm>
          <a:off x="1242597" y="1099234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914B4-50D0-446C-B6BD-A13C22D0057C}">
      <dsp:nvSpPr>
        <dsp:cNvPr id="0" name=""/>
        <dsp:cNvSpPr/>
      </dsp:nvSpPr>
      <dsp:spPr>
        <a:xfrm>
          <a:off x="569079" y="2487717"/>
          <a:ext cx="2072362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reduces manual feedback review time.</a:t>
          </a:r>
        </a:p>
      </dsp:txBody>
      <dsp:txXfrm>
        <a:off x="569079" y="2487717"/>
        <a:ext cx="2072362" cy="1035000"/>
      </dsp:txXfrm>
    </dsp:sp>
    <dsp:sp modelId="{4BC229E0-0446-4C62-98F3-DE24CDDB153E}">
      <dsp:nvSpPr>
        <dsp:cNvPr id="0" name=""/>
        <dsp:cNvSpPr/>
      </dsp:nvSpPr>
      <dsp:spPr>
        <a:xfrm>
          <a:off x="3408216" y="829826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2F684-9433-42BA-BE6C-855D581BB4C8}">
      <dsp:nvSpPr>
        <dsp:cNvPr id="0" name=""/>
        <dsp:cNvSpPr/>
      </dsp:nvSpPr>
      <dsp:spPr>
        <a:xfrm>
          <a:off x="3677623" y="1099234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5C0E48-8D45-47EF-BFAD-449C3540EC87}">
      <dsp:nvSpPr>
        <dsp:cNvPr id="0" name=""/>
        <dsp:cNvSpPr/>
      </dsp:nvSpPr>
      <dsp:spPr>
        <a:xfrm>
          <a:off x="3004105" y="2487717"/>
          <a:ext cx="2072362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Automated analysis and responses support more personalized customer touchpoints, which can boost retention and satisfaction over time</a:t>
          </a:r>
        </a:p>
      </dsp:txBody>
      <dsp:txXfrm>
        <a:off x="3004105" y="2487717"/>
        <a:ext cx="2072362" cy="1035000"/>
      </dsp:txXfrm>
    </dsp:sp>
    <dsp:sp modelId="{2FD73453-ABBB-4358-9C2F-9516C1EE3302}">
      <dsp:nvSpPr>
        <dsp:cNvPr id="0" name=""/>
        <dsp:cNvSpPr/>
      </dsp:nvSpPr>
      <dsp:spPr>
        <a:xfrm>
          <a:off x="5843242" y="829826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D0CBC-8937-4654-A514-870B1682B5B9}">
      <dsp:nvSpPr>
        <dsp:cNvPr id="0" name=""/>
        <dsp:cNvSpPr/>
      </dsp:nvSpPr>
      <dsp:spPr>
        <a:xfrm>
          <a:off x="6112649" y="1099234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1A3AA-4A7C-4403-8415-5A81CA47CD69}">
      <dsp:nvSpPr>
        <dsp:cNvPr id="0" name=""/>
        <dsp:cNvSpPr/>
      </dsp:nvSpPr>
      <dsp:spPr>
        <a:xfrm>
          <a:off x="5439131" y="2487717"/>
          <a:ext cx="2072362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Proactive reputation management</a:t>
          </a:r>
        </a:p>
      </dsp:txBody>
      <dsp:txXfrm>
        <a:off x="5439131" y="2487717"/>
        <a:ext cx="2072362" cy="1035000"/>
      </dsp:txXfrm>
    </dsp:sp>
    <dsp:sp modelId="{94C82364-EAAB-46F7-AABE-02F48C6AF8EC}">
      <dsp:nvSpPr>
        <dsp:cNvPr id="0" name=""/>
        <dsp:cNvSpPr/>
      </dsp:nvSpPr>
      <dsp:spPr>
        <a:xfrm>
          <a:off x="8278268" y="829826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559DF-6D63-47F9-9553-85126E1CEB16}">
      <dsp:nvSpPr>
        <dsp:cNvPr id="0" name=""/>
        <dsp:cNvSpPr/>
      </dsp:nvSpPr>
      <dsp:spPr>
        <a:xfrm>
          <a:off x="8547675" y="1099234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7AFC2-D52E-4F69-B871-05A1DA646BB7}">
      <dsp:nvSpPr>
        <dsp:cNvPr id="0" name=""/>
        <dsp:cNvSpPr/>
      </dsp:nvSpPr>
      <dsp:spPr>
        <a:xfrm>
          <a:off x="7874157" y="2487717"/>
          <a:ext cx="2072362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Summaries that link key phrases to themes and actionable suggestions give leadership clear direction for product improvement and prioritization</a:t>
          </a:r>
        </a:p>
      </dsp:txBody>
      <dsp:txXfrm>
        <a:off x="7874157" y="2487717"/>
        <a:ext cx="2072362" cy="103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6E8C-7900-DE74-A1FC-4B6C17CCD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3EE45-7F12-1D24-CB52-0CB683F51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DD310-F707-6B9B-2420-94898F93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4CB2C-1E61-16DA-3610-255F854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A6E4F-76AC-F754-C9FF-372ABAA2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6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461EA-6677-E14B-49EA-6D3933F1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1C47-4853-8636-2831-4134F861A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CEA93-FFFC-F159-8BF3-6D9EE8588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1B59C-FF08-7B29-D500-EB1A9EFF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EDF9E-9F4D-1271-198A-3C4AEF71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6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6D5F0-6D4D-B7E6-4745-EF2BF543B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CBC38-43AC-527B-D721-8A8F25A4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BB8F1-B530-7BB6-5ACF-920E2A6C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411F1-3899-9A87-3999-D97F633A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5D7A9-3885-6270-963C-23C22FBD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7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FB98-3A61-47FC-73FE-06E2B5D1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7B8-9907-C986-D384-837B06E98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733C-1FC7-3A59-526C-D54489379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504DD-6315-678C-E4BD-652BC41C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17E9D-D0F6-2BAF-CC26-92360BC1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B7A71-D39A-5646-1447-415DF722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6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D54A-456D-6EBB-F490-B45010C22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FE001-29D5-B948-0309-BE91B3C27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AA0F3-B9FE-30B2-F508-C49CD1DC6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B37DA-D895-AE8B-BE8D-68BA47D0A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251DE-B753-B5A8-AF68-811066813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F7526-F3D6-0C26-2422-4D2A1F38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7410-0DE0-51C7-5BE5-20DC248B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029F3D-3E01-964D-E658-8DA674CE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67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29ED-14FA-4F3C-D71A-2AC4663B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6809C-2744-FA07-1556-9B71FDACB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8F884-6EFB-CA17-913D-455D5D72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61BFC-5C0C-CBFA-B285-4A597E72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2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1D8D9-4F65-1DB5-FD1C-2EDD8B98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A1801-BF3D-6345-587A-A2EB6F3B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3A162-B62C-0489-49AE-C7A17A53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3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6D6C-DD32-C856-B89B-287171C4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697C5-2607-BD22-61CF-321C39A2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25045-5B17-80A7-29A7-0F48DDA61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3E741-55A2-D394-E9A0-2BFAC33B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EA5E4-73D4-B80B-BF14-E118A770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4D6DE-C97D-EBA6-2714-684A9BAC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2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ECCB-7DB6-EB8A-CC56-FB39CC96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D1869-8B82-74B4-B2E6-E056526FD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6D72A-CF1C-00A1-F09A-452E4DF05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F9CB2-A480-CAF5-683E-1F9031D0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AED52-DE20-2B5B-2C4A-3BEF710C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63182-5C81-709F-36FF-4DB9EC49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3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C24C-C40A-4B28-10FE-966E4D40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D6C2B-4CFB-D5E6-A06B-5DBD3DA3A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C273B-DF1D-19A0-93B1-720A4AE0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E83D4-01EA-4DFA-3392-5A934F67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C0F09-C1D4-E43C-1FFA-3CC61AB4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54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B4CF3-72F7-27EA-1BA9-1B74B01BC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74E95-3334-23BD-5D3D-599A524BF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3966-E69F-ADEB-0A2D-1B2A84DC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FF74-9C4F-50B8-CB2A-3B3FD50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95CDE-3D1B-9466-5299-565423B9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2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A0CF9B-CA32-8B63-CD6A-31149FF8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8E0AA-DB9C-9832-E0A4-977BD1ED9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C25FF-51BC-BFCC-1732-7AE5D4D10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59422-FCBE-4B69-A6A4-10D8D85F42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8439F-8DC2-01B2-C63C-EEAE57001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4169C-CFE2-584D-8FB5-28EA22483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1CFB7-DACD-407C-B9DF-EBB501223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9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A47F5-EB66-27F6-5757-CC5739ABA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AI-Powered Customer Review </a:t>
            </a:r>
            <a:r>
              <a:rPr lang="en-US" sz="4800" dirty="0" err="1">
                <a:solidFill>
                  <a:srgbClr val="FFFFFF"/>
                </a:solidFill>
              </a:rPr>
              <a:t>Analysing</a:t>
            </a:r>
            <a:r>
              <a:rPr lang="en-US" sz="4800" dirty="0">
                <a:solidFill>
                  <a:srgbClr val="FFFFFF"/>
                </a:solidFill>
              </a:rPr>
              <a:t> tool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D2559-CBC9-3B25-16C4-53D7A23A7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5263380" cy="1244483"/>
          </a:xfrm>
        </p:spPr>
        <p:txBody>
          <a:bodyPr anchor="t">
            <a:normAutofit/>
          </a:bodyPr>
          <a:lstStyle/>
          <a:p>
            <a:pPr algn="l"/>
            <a:r>
              <a:rPr lang="en-US" sz="1300" i="1" dirty="0">
                <a:solidFill>
                  <a:srgbClr val="FFFFFF"/>
                </a:solidFill>
              </a:rPr>
              <a:t>Powered by Azure AI</a:t>
            </a:r>
          </a:p>
          <a:p>
            <a:pPr algn="l"/>
            <a:endParaRPr lang="en-US" sz="1300" i="1" dirty="0">
              <a:solidFill>
                <a:srgbClr val="FFFFFF"/>
              </a:solidFill>
            </a:endParaRPr>
          </a:p>
          <a:p>
            <a:pPr algn="l"/>
            <a:r>
              <a:rPr lang="en-US" sz="1300" i="1" dirty="0">
                <a:solidFill>
                  <a:srgbClr val="FFFFFF"/>
                </a:solidFill>
              </a:rPr>
              <a:t>Kuda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using a computer&#10;&#10;AI-generated content may be incorrect.">
            <a:extLst>
              <a:ext uri="{FF2B5EF4-FFF2-40B4-BE49-F238E27FC236}">
                <a16:creationId xmlns:a16="http://schemas.microsoft.com/office/drawing/2014/main" id="{DEC7BF98-D167-F3BD-139A-8713C11AC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>
          <a:xfrm>
            <a:off x="6920559" y="2384803"/>
            <a:ext cx="3737164" cy="210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1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collage of a group of soda cans&#10;&#10;AI-generated content may be incorrect.">
            <a:extLst>
              <a:ext uri="{FF2B5EF4-FFF2-40B4-BE49-F238E27FC236}">
                <a16:creationId xmlns:a16="http://schemas.microsoft.com/office/drawing/2014/main" id="{4593C6DD-995C-0CAC-AB02-CE926BCFE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8" r="24312" b="-1"/>
          <a:stretch>
            <a:fillRect/>
          </a:stretch>
        </p:blipFill>
        <p:spPr>
          <a:xfrm>
            <a:off x="5622233" y="10"/>
            <a:ext cx="6569769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10" name="Content Placeholder 9" descr="A collage of soda cans and bottles&#10;&#10;AI-generated content may be incorrect.">
            <a:extLst>
              <a:ext uri="{FF2B5EF4-FFF2-40B4-BE49-F238E27FC236}">
                <a16:creationId xmlns:a16="http://schemas.microsoft.com/office/drawing/2014/main" id="{0E58A2F6-1418-4E29-3547-D70BDDCE1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6" b="13838"/>
          <a:stretch>
            <a:fillRect/>
          </a:stretch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5" name="Content Placeholder 4" descr="A hand holding a bottle of soda&#10;&#10;AI-generated content may be incorrect.">
            <a:extLst>
              <a:ext uri="{FF2B5EF4-FFF2-40B4-BE49-F238E27FC236}">
                <a16:creationId xmlns:a16="http://schemas.microsoft.com/office/drawing/2014/main" id="{5B0372F8-C4C2-D3BA-4FDB-6F9C91C93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98" r="1" b="11123"/>
          <a:stretch>
            <a:fillRect/>
          </a:stretch>
        </p:blipFill>
        <p:spPr>
          <a:xfrm>
            <a:off x="20" y="10"/>
            <a:ext cx="7503091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9437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59338-4012-D1F2-F9BA-D981D165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1"/>
              <a:t>Project Overview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7FA6F-A7C4-4CF0-AD52-D47835E6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 lnSpcReduction="10000"/>
          </a:bodyPr>
          <a:lstStyle/>
          <a:p>
            <a:r>
              <a:rPr lang="en-US" sz="2000" dirty="0"/>
              <a:t>An automated pipeline that:</a:t>
            </a:r>
          </a:p>
          <a:p>
            <a:pPr lvl="1"/>
            <a:r>
              <a:rPr lang="en-US" sz="2000" dirty="0"/>
              <a:t>Fetch Reddit product reviews using PRAW.</a:t>
            </a:r>
          </a:p>
          <a:p>
            <a:pPr lvl="1"/>
            <a:r>
              <a:rPr lang="en-US" sz="2000" dirty="0"/>
              <a:t>Analyze sentiment and extract key phrases via Azure Text Analytics.</a:t>
            </a:r>
          </a:p>
          <a:p>
            <a:pPr lvl="1"/>
            <a:r>
              <a:rPr lang="en-US" sz="2000" dirty="0"/>
              <a:t>Generate personalized responses to each comment using Azure OpenAI.</a:t>
            </a:r>
          </a:p>
          <a:p>
            <a:pPr lvl="1"/>
            <a:r>
              <a:rPr lang="en-US" sz="2000" dirty="0"/>
              <a:t>Summarize recurring feedback themes and generate product-adjustment recommendations using key phrases.</a:t>
            </a:r>
          </a:p>
          <a:p>
            <a:pPr lvl="1"/>
            <a:r>
              <a:rPr lang="en-US" sz="2000" dirty="0"/>
              <a:t>Output both a detailed CSV for analysts and a management-ready Word report.</a:t>
            </a:r>
          </a:p>
          <a:p>
            <a:endParaRPr lang="en-US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Multi-colored paper-craft art">
            <a:extLst>
              <a:ext uri="{FF2B5EF4-FFF2-40B4-BE49-F238E27FC236}">
                <a16:creationId xmlns:a16="http://schemas.microsoft.com/office/drawing/2014/main" id="{4A0D25FC-3679-D21A-AEBF-8E2D9CD516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86" b="4845"/>
          <a:stretch>
            <a:fillRect/>
          </a:stretch>
        </p:blipFill>
        <p:spPr>
          <a:xfrm>
            <a:off x="7075967" y="2271994"/>
            <a:ext cx="4170530" cy="234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0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BD1F7-23BD-8316-3A41-EB17D1D3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100" i="1">
                <a:solidFill>
                  <a:srgbClr val="FFFFFF"/>
                </a:solidFill>
              </a:rPr>
              <a:t>Leveraging Microsoft's AI stack for compliance-ready analytics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4733F21-ADF6-C7FB-1EA6-69371880B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892081"/>
              </p:ext>
            </p:extLst>
          </p:nvPr>
        </p:nvGraphicFramePr>
        <p:xfrm>
          <a:off x="997195" y="2112579"/>
          <a:ext cx="10221551" cy="4192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6558">
                  <a:extLst>
                    <a:ext uri="{9D8B030D-6E8A-4147-A177-3AD203B41FA5}">
                      <a16:colId xmlns:a16="http://schemas.microsoft.com/office/drawing/2014/main" val="2889994774"/>
                    </a:ext>
                  </a:extLst>
                </a:gridCol>
                <a:gridCol w="3393134">
                  <a:extLst>
                    <a:ext uri="{9D8B030D-6E8A-4147-A177-3AD203B41FA5}">
                      <a16:colId xmlns:a16="http://schemas.microsoft.com/office/drawing/2014/main" val="2298865233"/>
                    </a:ext>
                  </a:extLst>
                </a:gridCol>
                <a:gridCol w="3451859">
                  <a:extLst>
                    <a:ext uri="{9D8B030D-6E8A-4147-A177-3AD203B41FA5}">
                      <a16:colId xmlns:a16="http://schemas.microsoft.com/office/drawing/2014/main" val="1285680139"/>
                    </a:ext>
                  </a:extLst>
                </a:gridCol>
              </a:tblGrid>
              <a:tr h="387571">
                <a:tc>
                  <a:txBody>
                    <a:bodyPr/>
                    <a:lstStyle/>
                    <a:p>
                      <a:r>
                        <a:rPr lang="en-US" sz="1700"/>
                        <a:t>Service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Role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Value to the project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4054655357"/>
                  </a:ext>
                </a:extLst>
              </a:tr>
              <a:tr h="1180328">
                <a:tc>
                  <a:txBody>
                    <a:bodyPr/>
                    <a:lstStyle/>
                    <a:p>
                      <a:r>
                        <a:rPr lang="en-US" sz="1700"/>
                        <a:t>Azure text analytics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/>
                        <a:t>Sentiment analysis &amp; key-phrase extraction from Reddit comments</a:t>
                      </a:r>
                    </a:p>
                    <a:p>
                      <a:endParaRPr lang="en-US" sz="1700"/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/>
                        <a:t>Quickly surface customer pain points and positive aspects without manual review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964531338"/>
                  </a:ext>
                </a:extLst>
              </a:tr>
              <a:tr h="1708833">
                <a:tc>
                  <a:txBody>
                    <a:bodyPr/>
                    <a:lstStyle/>
                    <a:p>
                      <a:r>
                        <a:rPr lang="en-US" sz="1700"/>
                        <a:t>Azure Open AI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/>
                        <a:t>Generate polite, personalized responses to comments.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/>
                        <a:t>Summarize themes and recommend product adjustments based on key phrases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/>
                        <a:t>Enables natural, human-like language output and strategic insight generation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2283197889"/>
                  </a:ext>
                </a:extLst>
              </a:tr>
              <a:tr h="916075">
                <a:tc>
                  <a:txBody>
                    <a:bodyPr/>
                    <a:lstStyle/>
                    <a:p>
                      <a:r>
                        <a:rPr lang="en-US" sz="1700"/>
                        <a:t>Python tooling (pandas,praw,docs)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/>
                        <a:t>Data engineering, report generation, code-based pipeline orchestration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/>
                        <a:t>Seamless automation from raw feedback to Word report delivery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1869588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85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E072F9-A7DC-CA82-7006-51E3504D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3300"/>
              <a:t>Business Impact</a:t>
            </a:r>
            <a:br>
              <a:rPr lang="en-US" sz="3300"/>
            </a:br>
            <a:r>
              <a:rPr lang="en-US" sz="3300" i="1"/>
              <a:t>From raw comments to boardroom-ready insights in minutes</a:t>
            </a:r>
            <a:endParaRPr lang="en-US" sz="33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B67622-240F-4CBE-86C7-7F89936E6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07950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0245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31CD61-A77C-79E1-DFA9-5C860E378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9282A-172C-A185-7207-9FB62C565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AI-Powered Customer Review Analysis tool</a:t>
            </a:r>
            <a:endParaRPr lang="en-US" sz="20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0AE68D47-FC3A-9530-A338-E2A3E66F4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70104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226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AI-Powered Customer Review Analysing tool</vt:lpstr>
      <vt:lpstr>PowerPoint Presentation</vt:lpstr>
      <vt:lpstr>Project Overview</vt:lpstr>
      <vt:lpstr>Leveraging Microsoft's AI stack for compliance-ready analytics</vt:lpstr>
      <vt:lpstr>Business Impact From raw comments to boardroom-ready insights in minutes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Kudakwashe Nyamukondiwa</dc:creator>
  <cp:lastModifiedBy>Kudakwashe Nyamukondiwa</cp:lastModifiedBy>
  <cp:revision>6</cp:revision>
  <dcterms:created xsi:type="dcterms:W3CDTF">2025-07-22T15:08:54Z</dcterms:created>
  <dcterms:modified xsi:type="dcterms:W3CDTF">2025-11-16T22:37:49Z</dcterms:modified>
</cp:coreProperties>
</file>